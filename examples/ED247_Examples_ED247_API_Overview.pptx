
<file path=[Content_Types].xml><?xml version="1.0" encoding="utf-8"?>
<ct:Types xmlns:ct="http://schemas.openxmlformats.org/package/2006/content-types"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slideLayouts/slideLayout1.xml" ContentType="application/vnd.openxmlformats-officedocument.presentationml.slideLayout+xml"/>
  <ct:Override PartName="/ppt/theme/theme1.xml" ContentType="application/vnd.openxmlformats-officedocument.theme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</ct:Types>
</file>

<file path=_rels/.rels><?xml version='1.0' encoding='utf-8'?>
<rel:Relationships xmlns:rel="http://schemas.openxmlformats.org/package/2006/relationships"><rel:Relationship Id="rId1" Type="http://schemas.openxmlformats.org/officeDocument/2006/relationships/officeDocument" Target="ppt/presentation.xml" /></rel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'1.0' encoding='utf-8'?>
<rel:Relationships xmlns:rel="http://schemas.openxmlformats.org/package/2006/relationships"><rel:Relationship Id="rId1" Type="http://schemas.openxmlformats.org/officeDocument/2006/relationships/slideMaster" Target="slideMasters/slideMaster1.xml" /><rel:Relationship Id="rId2" Type="http://schemas.openxmlformats.org/officeDocument/2006/relationships/slide" Target="slides/slide1.xml" /><rel:Relationship Id="rId3" Type="http://schemas.openxmlformats.org/officeDocument/2006/relationships/slide" Target="slides/slide2.xml" /><rel:Relationship Id="rId4" Type="http://schemas.openxmlformats.org/officeDocument/2006/relationships/slide" Target="slides/slide3.xml" /></rel:Relationships>
</file>

<file path=ppt/slideLayouts/_rels/slideLayout1.xml.rels><?xml version='1.0' encoding='utf-8'?>
<rel:Relationships xmlns:rel="http://schemas.openxmlformats.org/package/2006/relationships"><rel:Relationship Id="rId1" Type="http://schemas.openxmlformats.org/officeDocument/2006/relationships/slideMaster" Target="../slideMasters/slideMaster1.xml" /></rel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rel:Relationship Id="rId2" Type="http://schemas.openxmlformats.org/officeDocument/2006/relationships/theme" Target="../theme/theme1.xml" /></rel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p="http://schemas.openxmlformats.org/presentationml/2006/main">
  <p:cSld>
    <p:bg>
      <a:solidFill>
        <a:srgbClr val="0B1220"/>
      </a:solidFill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10896"/>
            <a:ext cx="6400800" cy="25603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EXAMPLE 01  /  LIBRARY STREAMS</a:t>
            </a:r>
            <a:endParaRPr lang="zh-CN" sz="1000"/>
          </a:p>
        </p:txBody>
      </p:sp>
      <p:sp>
        <p:nvSpPr>
          <p:cNvPr id="3" name="Shape 3"/>
          <p:cNvSpPr txBox="1"/>
          <p:nvPr/>
        </p:nvSpPr>
        <p:spPr>
          <a:xfrm>
            <a:off x="10863072" y="310896"/>
            <a:ext cx="749808" cy="292608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10890504" y="324612"/>
            <a:ext cx="694944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01 / 03</a:t>
            </a:r>
            <a:endParaRPr lang="zh-CN" sz="900"/>
          </a:p>
        </p:txBody>
      </p:sp>
      <p:sp>
        <p:nvSpPr>
          <p:cNvPr id="5" name="Shape 5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2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从 ECIC 定义到 AFDX 样本收发</a:t>
            </a:r>
            <a:endParaRPr lang="zh-CN" sz="2800"/>
          </a:p>
        </p:txBody>
      </p:sp>
      <p:sp>
        <p:nvSpPr>
          <p:cNvPr id="6" name="Shape 6"/>
          <p:cNvSpPr txBox="1"/>
          <p:nvPr/>
        </p:nvSpPr>
        <p:spPr>
          <a:xfrm>
            <a:off x="585216" y="1243584"/>
            <a:ext cx="10972800" cy="32004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3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示例 1 · 以 AFDX_MESSAGE1 演示最小可运行的数据通路</a:t>
            </a:r>
            <a:endParaRPr lang="zh-CN" sz="1300"/>
          </a:p>
        </p:txBody>
      </p:sp>
      <p:sp>
        <p:nvSpPr>
          <p:cNvPr id="7" name="Shape 7"/>
          <p:cNvSpPr txBox="1"/>
          <p:nvPr/>
        </p:nvSpPr>
        <p:spPr>
          <a:xfrm>
            <a:off x="585216" y="6473952"/>
            <a:ext cx="10972800" cy="18288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来源：examples/example1_library_stream/{sender,receiver}/main.cpp  ·  ECIC.xml</a:t>
            </a:r>
            <a:endParaRPr lang="zh-CN" sz="800"/>
          </a:p>
        </p:txBody>
      </p:sp>
      <p:sp>
        <p:nvSpPr>
          <p:cNvPr id="8" name="Shape 8"/>
          <p:cNvSpPr txBox="1"/>
          <p:nvPr/>
        </p:nvSpPr>
        <p:spPr>
          <a:xfrm>
            <a:off x="566928" y="1828800"/>
            <a:ext cx="6967728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822960" y="1993392"/>
            <a:ext cx="630936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6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发送 / 接收闭环</a:t>
            </a:r>
            <a:endParaRPr lang="zh-CN" sz="1600"/>
          </a:p>
        </p:txBody>
      </p:sp>
      <p:sp>
        <p:nvSpPr>
          <p:cNvPr id="10" name="Shape 10"/>
          <p:cNvSpPr txBox="1"/>
          <p:nvPr/>
        </p:nvSpPr>
        <p:spPr>
          <a:xfrm>
            <a:off x="832104" y="2670048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923544" y="2743200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000"/>
          </a:p>
        </p:txBody>
      </p:sp>
      <p:sp>
        <p:nvSpPr>
          <p:cNvPr id="12" name="Shape 12"/>
          <p:cNvSpPr txBox="1"/>
          <p:nvPr/>
        </p:nvSpPr>
        <p:spPr>
          <a:xfrm>
            <a:off x="923544" y="2944368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  <a:endParaRPr lang="zh-CN" sz="1100"/>
          </a:p>
        </p:txBody>
      </p:sp>
      <p:sp>
        <p:nvSpPr>
          <p:cNvPr id="13" name="Shape 13"/>
          <p:cNvSpPr txBox="1"/>
          <p:nvPr/>
        </p:nvSpPr>
        <p:spPr>
          <a:xfrm>
            <a:off x="923544" y="3227832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ed247_load_file</a:t>
            </a:r>
            <a:endParaRPr lang="zh-CN" sz="850"/>
          </a:p>
        </p:txBody>
      </p:sp>
      <p:sp>
        <p:nvSpPr>
          <p:cNvPr id="14" name="Shape 14"/>
          <p:cNvSpPr txBox="1"/>
          <p:nvPr/>
        </p:nvSpPr>
        <p:spPr>
          <a:xfrm>
            <a:off x="2313432" y="2916936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15" name="Shape 15"/>
          <p:cNvSpPr txBox="1"/>
          <p:nvPr/>
        </p:nvSpPr>
        <p:spPr>
          <a:xfrm>
            <a:off x="2560320" y="2670048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2651760" y="2743200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000"/>
          </a:p>
        </p:txBody>
      </p:sp>
      <p:sp>
        <p:nvSpPr>
          <p:cNvPr id="17" name="Shape 17"/>
          <p:cNvSpPr txBox="1"/>
          <p:nvPr/>
        </p:nvSpPr>
        <p:spPr>
          <a:xfrm>
            <a:off x="2651760" y="2944368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获取流句柄</a:t>
            </a:r>
            <a:endParaRPr lang="zh-CN" sz="1100"/>
          </a:p>
        </p:txBody>
      </p:sp>
      <p:sp>
        <p:nvSpPr>
          <p:cNvPr id="18" name="Shape 18"/>
          <p:cNvSpPr txBox="1"/>
          <p:nvPr/>
        </p:nvSpPr>
        <p:spPr>
          <a:xfrm>
            <a:off x="2651760" y="3227832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ed247_get_stream</a:t>
            </a:r>
            <a:endParaRPr lang="zh-CN" sz="850"/>
          </a:p>
        </p:txBody>
      </p:sp>
      <p:sp>
        <p:nvSpPr>
          <p:cNvPr id="19" name="Shape 19"/>
          <p:cNvSpPr txBox="1"/>
          <p:nvPr/>
        </p:nvSpPr>
        <p:spPr>
          <a:xfrm>
            <a:off x="4041648" y="2916936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20" name="Shape 20"/>
          <p:cNvSpPr txBox="1"/>
          <p:nvPr/>
        </p:nvSpPr>
        <p:spPr>
          <a:xfrm>
            <a:off x="4288536" y="2670048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4379976" y="2743200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000"/>
          </a:p>
        </p:txBody>
      </p:sp>
      <p:sp>
        <p:nvSpPr>
          <p:cNvPr id="22" name="Shape 22"/>
          <p:cNvSpPr txBox="1"/>
          <p:nvPr/>
        </p:nvSpPr>
        <p:spPr>
          <a:xfrm>
            <a:off x="4379976" y="2944368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写入并发送</a:t>
            </a:r>
            <a:endParaRPr lang="zh-CN" sz="1100"/>
          </a:p>
        </p:txBody>
      </p:sp>
      <p:sp>
        <p:nvSpPr>
          <p:cNvPr id="23" name="Shape 23"/>
          <p:cNvSpPr txBox="1"/>
          <p:nvPr/>
        </p:nvSpPr>
        <p:spPr>
          <a:xfrm>
            <a:off x="4379976" y="3227832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push → send</a:t>
            </a:r>
            <a:endParaRPr lang="zh-CN" sz="850"/>
          </a:p>
        </p:txBody>
      </p:sp>
      <p:sp>
        <p:nvSpPr>
          <p:cNvPr id="24" name="Shape 24"/>
          <p:cNvSpPr txBox="1"/>
          <p:nvPr/>
        </p:nvSpPr>
        <p:spPr>
          <a:xfrm>
            <a:off x="5769864" y="2916936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25" name="Shape 25"/>
          <p:cNvSpPr txBox="1"/>
          <p:nvPr/>
        </p:nvSpPr>
        <p:spPr>
          <a:xfrm>
            <a:off x="6016752" y="2670048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6108192" y="2743200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000"/>
          </a:p>
        </p:txBody>
      </p:sp>
      <p:sp>
        <p:nvSpPr>
          <p:cNvPr id="27" name="Shape 27"/>
          <p:cNvSpPr txBox="1"/>
          <p:nvPr/>
        </p:nvSpPr>
        <p:spPr>
          <a:xfrm>
            <a:off x="6108192" y="2944368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等待并读取</a:t>
            </a:r>
            <a:endParaRPr lang="zh-CN" sz="1100"/>
          </a:p>
        </p:txBody>
      </p:sp>
      <p:sp>
        <p:nvSpPr>
          <p:cNvPr id="28" name="Shape 28"/>
          <p:cNvSpPr txBox="1"/>
          <p:nvPr/>
        </p:nvSpPr>
        <p:spPr>
          <a:xfrm>
            <a:off x="6108192" y="3227832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wait → pop</a:t>
            </a:r>
            <a:endParaRPr lang="zh-CN" sz="850"/>
          </a:p>
        </p:txBody>
      </p:sp>
      <p:sp>
        <p:nvSpPr>
          <p:cNvPr id="29" name="Shape 29"/>
          <p:cNvSpPr txBox="1"/>
          <p:nvPr/>
        </p:nvSpPr>
        <p:spPr>
          <a:xfrm>
            <a:off x="850392" y="3785615"/>
            <a:ext cx="6217920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本例配置</a:t>
            </a:r>
            <a:endParaRPr lang="zh-CN" sz="1100"/>
          </a:p>
        </p:txBody>
      </p:sp>
      <p:sp>
        <p:nvSpPr>
          <p:cNvPr id="30" name="Shape 30"/>
          <p:cNvSpPr txBox="1"/>
          <p:nvPr/>
        </p:nvSpPr>
        <p:spPr>
          <a:xfrm>
            <a:off x="850392" y="4105656"/>
            <a:ext cx="1664208" cy="265176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905256" y="4119372"/>
            <a:ext cx="1554480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AFDX_MESSAGE1</a:t>
            </a:r>
            <a:endParaRPr lang="zh-CN" sz="900"/>
          </a:p>
        </p:txBody>
      </p:sp>
      <p:sp>
        <p:nvSpPr>
          <p:cNvPr id="32" name="Shape 32"/>
          <p:cNvSpPr txBox="1"/>
          <p:nvPr/>
        </p:nvSpPr>
        <p:spPr>
          <a:xfrm>
            <a:off x="2651760" y="4105656"/>
            <a:ext cx="1261872" cy="265176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2706624" y="4119372"/>
            <a:ext cx="1152143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400 B / sample</a:t>
            </a:r>
            <a:endParaRPr lang="zh-CN" sz="900"/>
          </a:p>
        </p:txBody>
      </p:sp>
      <p:sp>
        <p:nvSpPr>
          <p:cNvPr id="34" name="Shape 34"/>
          <p:cNvSpPr txBox="1"/>
          <p:nvPr/>
        </p:nvSpPr>
        <p:spPr>
          <a:xfrm>
            <a:off x="4050791" y="4105656"/>
            <a:ext cx="1609344" cy="265176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4105655" y="4119372"/>
            <a:ext cx="1499616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1 sample / stream</a:t>
            </a:r>
            <a:endParaRPr lang="zh-CN" sz="900"/>
          </a:p>
        </p:txBody>
      </p:sp>
      <p:sp>
        <p:nvSpPr>
          <p:cNvPr id="36" name="Shape 36"/>
          <p:cNvSpPr txBox="1"/>
          <p:nvPr/>
        </p:nvSpPr>
        <p:spPr>
          <a:xfrm>
            <a:off x="5806440" y="4105656"/>
            <a:ext cx="1261872" cy="265176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7" name="Shape 37"/>
          <p:cNvSpPr txBox="1"/>
          <p:nvPr/>
        </p:nvSpPr>
        <p:spPr>
          <a:xfrm>
            <a:off x="5861303" y="4119372"/>
            <a:ext cx="1152143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1 s / cycle</a:t>
            </a:r>
            <a:endParaRPr lang="zh-CN" sz="900"/>
          </a:p>
        </p:txBody>
      </p:sp>
      <p:sp>
        <p:nvSpPr>
          <p:cNvPr id="38" name="Shape 38"/>
          <p:cNvSpPr txBox="1"/>
          <p:nvPr/>
        </p:nvSpPr>
        <p:spPr>
          <a:xfrm>
            <a:off x="850392" y="4590288"/>
            <a:ext cx="6236208" cy="438912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1019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发送端：ed247_stream_push_sample() 入队，再由 ed247_send_pushed_samples() 发出。</a:t>
            </a:r>
            <a:endParaRPr lang="zh-CN" sz="1019"/>
          </a:p>
          <a:p>
            <a:pPr algn="l"/>
            <a:r>
              <a:rPr lang="zh-CN" sz="1019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接收端：等待数据后 pop；示例接收缓冲区由库管理，不要 free。</a:t>
            </a:r>
            <a:endParaRPr lang="zh-CN" sz="1019"/>
          </a:p>
        </p:txBody>
      </p:sp>
      <p:sp>
        <p:nvSpPr>
          <p:cNvPr id="39" name="Shape 39"/>
          <p:cNvSpPr txBox="1"/>
          <p:nvPr/>
        </p:nvSpPr>
        <p:spPr>
          <a:xfrm>
            <a:off x="7680960" y="1828800"/>
            <a:ext cx="3941063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40" name="Shape 40"/>
          <p:cNvSpPr txBox="1"/>
          <p:nvPr/>
        </p:nvSpPr>
        <p:spPr>
          <a:xfrm>
            <a:off x="7936992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6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关键 ED247 接口</a:t>
            </a:r>
            <a:endParaRPr lang="zh-CN" sz="1600"/>
          </a:p>
        </p:txBody>
      </p:sp>
      <p:sp>
        <p:nvSpPr>
          <p:cNvPr id="41" name="Shape 41"/>
          <p:cNvSpPr txBox="1"/>
          <p:nvPr/>
        </p:nvSpPr>
        <p:spPr>
          <a:xfrm>
            <a:off x="7936992" y="2432304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42" name="Shape 42"/>
          <p:cNvSpPr txBox="1"/>
          <p:nvPr/>
        </p:nvSpPr>
        <p:spPr>
          <a:xfrm>
            <a:off x="8083296" y="2432304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ed247_load_file</a:t>
            </a:r>
            <a:endParaRPr lang="zh-CN" sz="919"/>
          </a:p>
        </p:txBody>
      </p:sp>
      <p:sp>
        <p:nvSpPr>
          <p:cNvPr id="43" name="Shape 43"/>
          <p:cNvSpPr txBox="1"/>
          <p:nvPr/>
        </p:nvSpPr>
        <p:spPr>
          <a:xfrm>
            <a:off x="8083296" y="2624328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解析 ECIC，创建 context。</a:t>
            </a:r>
            <a:endParaRPr lang="zh-CN" sz="930"/>
          </a:p>
        </p:txBody>
      </p:sp>
      <p:sp>
        <p:nvSpPr>
          <p:cNvPr id="44" name="Shape 44"/>
          <p:cNvSpPr txBox="1"/>
          <p:nvPr/>
        </p:nvSpPr>
        <p:spPr>
          <a:xfrm>
            <a:off x="7936992" y="2962656"/>
            <a:ext cx="41148" cy="411480"/>
          </a:xfrm>
          <a:prstGeom prst="rect">
            <a:avLst/>
          </a:prstGeom>
          <a:solidFill>
            <a:srgbClr val="78A9FF"/>
          </a:solidFill>
          <a:ln/>
        </p:spPr>
      </p:sp>
      <p:sp>
        <p:nvSpPr>
          <p:cNvPr id="45" name="Shape 45"/>
          <p:cNvSpPr txBox="1"/>
          <p:nvPr/>
        </p:nvSpPr>
        <p:spPr>
          <a:xfrm>
            <a:off x="8083296" y="2962656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ed247_get_stream</a:t>
            </a:r>
            <a:endParaRPr lang="zh-CN" sz="919"/>
          </a:p>
        </p:txBody>
      </p:sp>
      <p:sp>
        <p:nvSpPr>
          <p:cNvPr id="46" name="Shape 46"/>
          <p:cNvSpPr txBox="1"/>
          <p:nvPr/>
        </p:nvSpPr>
        <p:spPr>
          <a:xfrm>
            <a:off x="8083296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按名称取得 stream 句柄。</a:t>
            </a:r>
            <a:endParaRPr lang="zh-CN" sz="930"/>
          </a:p>
        </p:txBody>
      </p:sp>
      <p:sp>
        <p:nvSpPr>
          <p:cNvPr id="47" name="Shape 47"/>
          <p:cNvSpPr txBox="1"/>
          <p:nvPr/>
        </p:nvSpPr>
        <p:spPr>
          <a:xfrm>
            <a:off x="7936992" y="3493008"/>
            <a:ext cx="41148" cy="41148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8" name="Shape 48"/>
          <p:cNvSpPr txBox="1"/>
          <p:nvPr/>
        </p:nvSpPr>
        <p:spPr>
          <a:xfrm>
            <a:off x="8083296" y="3493008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ed247_stream_push_sample</a:t>
            </a:r>
            <a:endParaRPr lang="zh-CN" sz="919"/>
          </a:p>
        </p:txBody>
      </p:sp>
      <p:sp>
        <p:nvSpPr>
          <p:cNvPr id="49" name="Shape 49"/>
          <p:cNvSpPr txBox="1"/>
          <p:nvPr/>
        </p:nvSpPr>
        <p:spPr>
          <a:xfrm>
            <a:off x="8083296" y="3685032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把 sample 放入输出队列。</a:t>
            </a:r>
            <a:endParaRPr lang="zh-CN" sz="930"/>
          </a:p>
        </p:txBody>
      </p:sp>
      <p:sp>
        <p:nvSpPr>
          <p:cNvPr id="50" name="Shape 50"/>
          <p:cNvSpPr txBox="1"/>
          <p:nvPr/>
        </p:nvSpPr>
        <p:spPr>
          <a:xfrm>
            <a:off x="7936992" y="4023360"/>
            <a:ext cx="41148" cy="411480"/>
          </a:xfrm>
          <a:prstGeom prst="rect">
            <a:avLst/>
          </a:prstGeom>
          <a:solidFill>
            <a:srgbClr val="8BE0A5"/>
          </a:solidFill>
          <a:ln/>
        </p:spPr>
      </p:sp>
      <p:sp>
        <p:nvSpPr>
          <p:cNvPr id="51" name="Shape 51"/>
          <p:cNvSpPr txBox="1"/>
          <p:nvPr/>
        </p:nvSpPr>
        <p:spPr>
          <a:xfrm>
            <a:off x="8083296" y="4023360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ed247_send_pushed_samples</a:t>
            </a:r>
            <a:endParaRPr lang="zh-CN" sz="919"/>
          </a:p>
        </p:txBody>
      </p:sp>
      <p:sp>
        <p:nvSpPr>
          <p:cNvPr id="52" name="Shape 52"/>
          <p:cNvSpPr txBox="1"/>
          <p:nvPr/>
        </p:nvSpPr>
        <p:spPr>
          <a:xfrm>
            <a:off x="8083296" y="4215384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发送已入队的 samples。</a:t>
            </a:r>
            <a:endParaRPr lang="zh-CN" sz="930"/>
          </a:p>
        </p:txBody>
      </p:sp>
      <p:sp>
        <p:nvSpPr>
          <p:cNvPr id="53" name="Shape 53"/>
          <p:cNvSpPr txBox="1"/>
          <p:nvPr/>
        </p:nvSpPr>
        <p:spPr>
          <a:xfrm>
            <a:off x="7936992" y="4553712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54" name="Shape 54"/>
          <p:cNvSpPr txBox="1"/>
          <p:nvPr/>
        </p:nvSpPr>
        <p:spPr>
          <a:xfrm>
            <a:off x="8083296" y="4553712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ed247_stream_pop_sample</a:t>
            </a:r>
            <a:endParaRPr lang="zh-CN" sz="919"/>
          </a:p>
        </p:txBody>
      </p:sp>
      <p:sp>
        <p:nvSpPr>
          <p:cNvPr id="55" name="Shape 55"/>
          <p:cNvSpPr txBox="1"/>
          <p:nvPr/>
        </p:nvSpPr>
        <p:spPr>
          <a:xfrm>
            <a:off x="8083296" y="4745736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配合 ed247_wait_during；无数据返回 NODATA。</a:t>
            </a:r>
            <a:endParaRPr lang="zh-CN" sz="930"/>
          </a:p>
        </p:txBody>
      </p:sp>
      <p:sp>
        <p:nvSpPr>
          <p:cNvPr id="56" name="Shape 56"/>
          <p:cNvSpPr txBox="1"/>
          <p:nvPr/>
        </p:nvSpPr>
        <p:spPr>
          <a:xfrm>
            <a:off x="566928" y="5431536"/>
            <a:ext cx="11055096" cy="78638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57" name="Shape 57"/>
          <p:cNvSpPr txBox="1"/>
          <p:nvPr/>
        </p:nvSpPr>
        <p:spPr>
          <a:xfrm>
            <a:off x="566928" y="5431536"/>
            <a:ext cx="64008" cy="786384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58" name="Shape 58"/>
          <p:cNvSpPr txBox="1"/>
          <p:nvPr/>
        </p:nvSpPr>
        <p:spPr>
          <a:xfrm>
            <a:off x="822960" y="5559552"/>
            <a:ext cx="1298448" cy="43891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  <a:endParaRPr lang="zh-CN" sz="1200"/>
          </a:p>
        </p:txBody>
      </p:sp>
      <p:sp>
        <p:nvSpPr>
          <p:cNvPr id="59" name="Shape 59"/>
          <p:cNvSpPr txBox="1"/>
          <p:nvPr/>
        </p:nvSpPr>
        <p:spPr>
          <a:xfrm>
            <a:off x="2066543" y="5550408"/>
            <a:ext cx="9189720" cy="4572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Library 搬运 sample bytes，不解释或校验 AFDX 载荷；单个 sample 大小受 ECIC 的 SampleMaxSizeBytes 限制。</a:t>
            </a:r>
            <a:endParaRPr lang="zh-CN" sz="120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a:solidFill>
        <a:srgbClr val="0B1220"/>
      </a:solidFill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10896"/>
            <a:ext cx="6400800" cy="25603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EXAMPLE 02  /  BUSES &amp; QUEUES</a:t>
            </a:r>
            <a:endParaRPr lang="zh-CN" sz="1000"/>
          </a:p>
        </p:txBody>
      </p:sp>
      <p:sp>
        <p:nvSpPr>
          <p:cNvPr id="3" name="Shape 3"/>
          <p:cNvSpPr txBox="1"/>
          <p:nvPr/>
        </p:nvSpPr>
        <p:spPr>
          <a:xfrm>
            <a:off x="10863072" y="310896"/>
            <a:ext cx="749808" cy="292608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10890504" y="324612"/>
            <a:ext cx="694944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02 / 03</a:t>
            </a:r>
            <a:endParaRPr lang="zh-CN" sz="900"/>
          </a:p>
        </p:txBody>
      </p:sp>
      <p:sp>
        <p:nvSpPr>
          <p:cNvPr id="5" name="Shape 5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2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总线与队列：容量决定样本如何保留</a:t>
            </a:r>
            <a:endParaRPr lang="zh-CN" sz="2800"/>
          </a:p>
        </p:txBody>
      </p:sp>
      <p:sp>
        <p:nvSpPr>
          <p:cNvPr id="6" name="Shape 6"/>
          <p:cNvSpPr txBox="1"/>
          <p:nvPr/>
        </p:nvSpPr>
        <p:spPr>
          <a:xfrm>
            <a:off x="585216" y="1243584"/>
            <a:ext cx="10972800" cy="32004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3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示例 2 · 对比 A664 消息队列与 A429 总线队列的收发行为</a:t>
            </a:r>
            <a:endParaRPr lang="zh-CN" sz="1300"/>
          </a:p>
        </p:txBody>
      </p:sp>
      <p:sp>
        <p:nvSpPr>
          <p:cNvPr id="7" name="Shape 7"/>
          <p:cNvSpPr txBox="1"/>
          <p:nvPr/>
        </p:nvSpPr>
        <p:spPr>
          <a:xfrm>
            <a:off x="585216" y="6473952"/>
            <a:ext cx="10972800" cy="18288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来源：examples/example2_library_buses_and_queuings/{sender,receiver}/main.cpp  ·  ECIC.xml</a:t>
            </a:r>
            <a:endParaRPr lang="zh-CN" sz="800"/>
          </a:p>
        </p:txBody>
      </p:sp>
      <p:sp>
        <p:nvSpPr>
          <p:cNvPr id="8" name="Shape 8"/>
          <p:cNvSpPr txBox="1"/>
          <p:nvPr/>
        </p:nvSpPr>
        <p:spPr>
          <a:xfrm>
            <a:off x="566928" y="1828800"/>
            <a:ext cx="6967728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822960" y="1993392"/>
            <a:ext cx="630936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同一套 sample API，不同的容量与总线语义</a:t>
            </a:r>
            <a:endParaRPr lang="zh-CN" sz="1500"/>
          </a:p>
        </p:txBody>
      </p:sp>
      <p:sp>
        <p:nvSpPr>
          <p:cNvPr id="10" name="Shape 10"/>
          <p:cNvSpPr txBox="1"/>
          <p:nvPr/>
        </p:nvSpPr>
        <p:spPr>
          <a:xfrm>
            <a:off x="841248" y="2487168"/>
            <a:ext cx="2971800" cy="941832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1024128" y="2578608"/>
            <a:ext cx="2606040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AFDX_MESSAGE1 · 发送 10 / 接收 2</a:t>
            </a:r>
            <a:endParaRPr lang="zh-CN" sz="1000"/>
          </a:p>
        </p:txBody>
      </p:sp>
      <p:sp>
        <p:nvSpPr>
          <p:cNvPr id="12" name="Shape 12"/>
          <p:cNvSpPr txBox="1"/>
          <p:nvPr/>
        </p:nvSpPr>
        <p:spPr>
          <a:xfrm>
            <a:off x="1024128" y="2889504"/>
            <a:ext cx="2606040" cy="384048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发送队列推入 3 条 → 3 条发出</a:t>
            </a:r>
            <a:endParaRPr lang="zh-CN" sz="950"/>
          </a:p>
          <a:p>
            <a:pPr algn="l"/>
            <a:r>
              <a:rPr lang="zh-CN" sz="9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接收队列仅 2 条：最旧 1 条被淘汰。</a:t>
            </a:r>
            <a:endParaRPr lang="zh-CN" sz="950"/>
          </a:p>
        </p:txBody>
      </p:sp>
      <p:sp>
        <p:nvSpPr>
          <p:cNvPr id="13" name="Shape 13"/>
          <p:cNvSpPr txBox="1"/>
          <p:nvPr/>
        </p:nvSpPr>
        <p:spPr>
          <a:xfrm>
            <a:off x="4078224" y="2487168"/>
            <a:ext cx="3063240" cy="941832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261104" y="2578608"/>
            <a:ext cx="2706624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AFDX_MESSAGE2 · 发送端上限 2</a:t>
            </a:r>
            <a:endParaRPr lang="zh-CN" sz="1050"/>
          </a:p>
        </p:txBody>
      </p:sp>
      <p:sp>
        <p:nvSpPr>
          <p:cNvPr id="15" name="Shape 15"/>
          <p:cNvSpPr txBox="1"/>
          <p:nvPr/>
        </p:nvSpPr>
        <p:spPr>
          <a:xfrm>
            <a:off x="4261104" y="2889504"/>
            <a:ext cx="2706624" cy="384048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推入 3 条 → 最旧 1 条丢弃</a:t>
            </a:r>
            <a:endParaRPr lang="zh-CN" sz="950"/>
          </a:p>
          <a:p>
            <a:pPr algn="l"/>
            <a:r>
              <a:rPr lang="zh-CN" sz="9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queue_full 表示本次 push 后队列已满。</a:t>
            </a:r>
            <a:endParaRPr lang="zh-CN" sz="950"/>
          </a:p>
        </p:txBody>
      </p:sp>
      <p:sp>
        <p:nvSpPr>
          <p:cNvPr id="16" name="Shape 16"/>
          <p:cNvSpPr txBox="1"/>
          <p:nvPr/>
        </p:nvSpPr>
        <p:spPr>
          <a:xfrm>
            <a:off x="841248" y="3639312"/>
            <a:ext cx="6300216" cy="1188720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24128" y="3739896"/>
            <a:ext cx="5897880" cy="2286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A429_BUS1 · 以 BUS 为单位收发</a:t>
            </a:r>
            <a:endParaRPr lang="zh-CN" sz="1200"/>
          </a:p>
        </p:txBody>
      </p:sp>
      <p:sp>
        <p:nvSpPr>
          <p:cNvPr id="18" name="Shape 18"/>
          <p:cNvSpPr txBox="1"/>
          <p:nvPr/>
        </p:nvSpPr>
        <p:spPr>
          <a:xfrm>
            <a:off x="1024128" y="4041648"/>
            <a:ext cx="5897880" cy="484632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每个 sample 是一个 4 字节 A429 word；sampling 与 queuing word 共用有序队列。</a:t>
            </a:r>
            <a:endParaRPr lang="zh-CN" sz="1000"/>
          </a:p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ed247_stream_push_samples() 可批量推入多个 word，接收端逐条 pop 并按 label 解析。</a:t>
            </a:r>
            <a:endParaRPr lang="zh-CN" sz="1000"/>
          </a:p>
        </p:txBody>
      </p:sp>
      <p:sp>
        <p:nvSpPr>
          <p:cNvPr id="19" name="Shape 19"/>
          <p:cNvSpPr txBox="1"/>
          <p:nvPr/>
        </p:nvSpPr>
        <p:spPr>
          <a:xfrm>
            <a:off x="859536" y="4956048"/>
            <a:ext cx="6217920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6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队列满时淘汰较旧 sample；不会按 A429 label 自动挑选要保留的 word。</a:t>
            </a:r>
            <a:endParaRPr lang="zh-CN" sz="960"/>
          </a:p>
        </p:txBody>
      </p:sp>
      <p:sp>
        <p:nvSpPr>
          <p:cNvPr id="20" name="Shape 20"/>
          <p:cNvSpPr txBox="1"/>
          <p:nvPr/>
        </p:nvSpPr>
        <p:spPr>
          <a:xfrm>
            <a:off x="7680960" y="1828800"/>
            <a:ext cx="3941063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7936992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6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关键 ED247 接口</a:t>
            </a:r>
            <a:endParaRPr lang="zh-CN" sz="1600"/>
          </a:p>
        </p:txBody>
      </p:sp>
      <p:sp>
        <p:nvSpPr>
          <p:cNvPr id="22" name="Shape 22"/>
          <p:cNvSpPr txBox="1"/>
          <p:nvPr/>
        </p:nvSpPr>
        <p:spPr>
          <a:xfrm>
            <a:off x="7936992" y="2432304"/>
            <a:ext cx="41148" cy="411480"/>
          </a:xfrm>
          <a:prstGeom prst="rect">
            <a:avLst/>
          </a:prstGeom>
          <a:solidFill>
            <a:srgbClr val="78A9FF"/>
          </a:solidFill>
          <a:ln/>
        </p:spPr>
      </p:sp>
      <p:sp>
        <p:nvSpPr>
          <p:cNvPr id="23" name="Shape 23"/>
          <p:cNvSpPr txBox="1"/>
          <p:nvPr/>
        </p:nvSpPr>
        <p:spPr>
          <a:xfrm>
            <a:off x="8083296" y="2432304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ed247_stream_get_sample_max_number</a:t>
            </a:r>
            <a:endParaRPr lang="zh-CN" sz="919"/>
          </a:p>
        </p:txBody>
      </p:sp>
      <p:sp>
        <p:nvSpPr>
          <p:cNvPr id="24" name="Shape 24"/>
          <p:cNvSpPr txBox="1"/>
          <p:nvPr/>
        </p:nvSpPr>
        <p:spPr>
          <a:xfrm>
            <a:off x="8083296" y="2624328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读取 ECIC 配置的 sample 容量。</a:t>
            </a:r>
            <a:endParaRPr lang="zh-CN" sz="930"/>
          </a:p>
        </p:txBody>
      </p:sp>
      <p:sp>
        <p:nvSpPr>
          <p:cNvPr id="25" name="Shape 25"/>
          <p:cNvSpPr txBox="1"/>
          <p:nvPr/>
        </p:nvSpPr>
        <p:spPr>
          <a:xfrm>
            <a:off x="7936992" y="2962656"/>
            <a:ext cx="41148" cy="41148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26" name="Shape 26"/>
          <p:cNvSpPr txBox="1"/>
          <p:nvPr/>
        </p:nvSpPr>
        <p:spPr>
          <a:xfrm>
            <a:off x="8083296" y="2962656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ed247_stream_push_sample</a:t>
            </a:r>
            <a:endParaRPr lang="zh-CN" sz="919"/>
          </a:p>
        </p:txBody>
      </p:sp>
      <p:sp>
        <p:nvSpPr>
          <p:cNvPr id="27" name="Shape 27"/>
          <p:cNvSpPr txBox="1"/>
          <p:nvPr/>
        </p:nvSpPr>
        <p:spPr>
          <a:xfrm>
            <a:off x="8083296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入队；可查询 queue_full。</a:t>
            </a:r>
            <a:endParaRPr lang="zh-CN" sz="930"/>
          </a:p>
        </p:txBody>
      </p:sp>
      <p:sp>
        <p:nvSpPr>
          <p:cNvPr id="28" name="Shape 28"/>
          <p:cNvSpPr txBox="1"/>
          <p:nvPr/>
        </p:nvSpPr>
        <p:spPr>
          <a:xfrm>
            <a:off x="7936992" y="3493008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29" name="Shape 29"/>
          <p:cNvSpPr txBox="1"/>
          <p:nvPr/>
        </p:nvSpPr>
        <p:spPr>
          <a:xfrm>
            <a:off x="8083296" y="3493008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ed247_stream_push_samples</a:t>
            </a:r>
            <a:endParaRPr lang="zh-CN" sz="919"/>
          </a:p>
        </p:txBody>
      </p:sp>
      <p:sp>
        <p:nvSpPr>
          <p:cNvPr id="30" name="Shape 30"/>
          <p:cNvSpPr txBox="1"/>
          <p:nvPr/>
        </p:nvSpPr>
        <p:spPr>
          <a:xfrm>
            <a:off x="8083296" y="3685032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一次批量推入多个 A429 words。</a:t>
            </a:r>
            <a:endParaRPr lang="zh-CN" sz="930"/>
          </a:p>
        </p:txBody>
      </p:sp>
      <p:sp>
        <p:nvSpPr>
          <p:cNvPr id="31" name="Shape 31"/>
          <p:cNvSpPr txBox="1"/>
          <p:nvPr/>
        </p:nvSpPr>
        <p:spPr>
          <a:xfrm>
            <a:off x="7936992" y="4023360"/>
            <a:ext cx="41148" cy="411480"/>
          </a:xfrm>
          <a:prstGeom prst="rect">
            <a:avLst/>
          </a:prstGeom>
          <a:solidFill>
            <a:srgbClr val="8BE0A5"/>
          </a:solidFill>
          <a:ln/>
        </p:spPr>
      </p:sp>
      <p:sp>
        <p:nvSpPr>
          <p:cNvPr id="32" name="Shape 32"/>
          <p:cNvSpPr txBox="1"/>
          <p:nvPr/>
        </p:nvSpPr>
        <p:spPr>
          <a:xfrm>
            <a:off x="8083296" y="4023360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ed247_send_pushed_samples</a:t>
            </a:r>
            <a:endParaRPr lang="zh-CN" sz="919"/>
          </a:p>
        </p:txBody>
      </p:sp>
      <p:sp>
        <p:nvSpPr>
          <p:cNvPr id="33" name="Shape 33"/>
          <p:cNvSpPr txBox="1"/>
          <p:nvPr/>
        </p:nvSpPr>
        <p:spPr>
          <a:xfrm>
            <a:off x="8083296" y="4215384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发送当前已排队的 stream 数据。</a:t>
            </a:r>
            <a:endParaRPr lang="zh-CN" sz="930"/>
          </a:p>
        </p:txBody>
      </p:sp>
      <p:sp>
        <p:nvSpPr>
          <p:cNvPr id="34" name="Shape 34"/>
          <p:cNvSpPr txBox="1"/>
          <p:nvPr/>
        </p:nvSpPr>
        <p:spPr>
          <a:xfrm>
            <a:off x="7936992" y="4553712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35" name="Shape 35"/>
          <p:cNvSpPr txBox="1"/>
          <p:nvPr/>
        </p:nvSpPr>
        <p:spPr>
          <a:xfrm>
            <a:off x="8083296" y="4553712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ed247_stream_pop_sample</a:t>
            </a:r>
            <a:endParaRPr lang="zh-CN" sz="919"/>
          </a:p>
        </p:txBody>
      </p:sp>
      <p:sp>
        <p:nvSpPr>
          <p:cNvPr id="36" name="Shape 36"/>
          <p:cNvSpPr txBox="1"/>
          <p:nvPr/>
        </p:nvSpPr>
        <p:spPr>
          <a:xfrm>
            <a:off x="8083296" y="4745736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逐条取出；可查询 queue_empty / NODATA。</a:t>
            </a:r>
            <a:endParaRPr lang="zh-CN" sz="930"/>
          </a:p>
        </p:txBody>
      </p:sp>
      <p:sp>
        <p:nvSpPr>
          <p:cNvPr id="37" name="Shape 37"/>
          <p:cNvSpPr txBox="1"/>
          <p:nvPr/>
        </p:nvSpPr>
        <p:spPr>
          <a:xfrm>
            <a:off x="566928" y="5431536"/>
            <a:ext cx="11055096" cy="78638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566928" y="5431536"/>
            <a:ext cx="64008" cy="786384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39" name="Shape 39"/>
          <p:cNvSpPr txBox="1"/>
          <p:nvPr/>
        </p:nvSpPr>
        <p:spPr>
          <a:xfrm>
            <a:off x="822960" y="5559552"/>
            <a:ext cx="1298448" cy="43891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配置要点</a:t>
            </a:r>
            <a:endParaRPr lang="zh-CN" sz="1200"/>
          </a:p>
        </p:txBody>
      </p:sp>
      <p:sp>
        <p:nvSpPr>
          <p:cNvPr id="40" name="Shape 40"/>
          <p:cNvSpPr txBox="1"/>
          <p:nvPr/>
        </p:nvSpPr>
        <p:spPr>
          <a:xfrm>
            <a:off x="2066543" y="5550408"/>
            <a:ext cx="9189720" cy="4572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SampleMaxNumber 按 sample 数量计数（A429 中就是 word 数），不是字节数；应覆盖一个发送 / 接收周期内预期的总量。</a:t>
            </a:r>
            <a:endParaRPr lang="zh-CN" sz="120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a:solidFill>
        <a:srgbClr val="0B1220"/>
      </a:solidFill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10896"/>
            <a:ext cx="6400800" cy="25603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EXAMPLE 03  /  SIGNALS</a:t>
            </a:r>
            <a:endParaRPr lang="zh-CN" sz="1000"/>
          </a:p>
        </p:txBody>
      </p:sp>
      <p:sp>
        <p:nvSpPr>
          <p:cNvPr id="3" name="Shape 3"/>
          <p:cNvSpPr txBox="1"/>
          <p:nvPr/>
        </p:nvSpPr>
        <p:spPr>
          <a:xfrm>
            <a:off x="10863072" y="310896"/>
            <a:ext cx="749808" cy="292608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4" name="Shape 4"/>
          <p:cNvSpPr txBox="1"/>
          <p:nvPr/>
        </p:nvSpPr>
        <p:spPr>
          <a:xfrm>
            <a:off x="10890504" y="324612"/>
            <a:ext cx="694944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03 / 03</a:t>
            </a:r>
            <a:endParaRPr lang="zh-CN" sz="900"/>
          </a:p>
        </p:txBody>
      </p:sp>
      <p:sp>
        <p:nvSpPr>
          <p:cNvPr id="5" name="Shape 5"/>
          <p:cNvSpPr txBox="1"/>
          <p:nvPr/>
        </p:nvSpPr>
        <p:spPr>
          <a:xfrm>
            <a:off x="566928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2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用 Stream Assistant 读写 ED247 信号</a:t>
            </a:r>
            <a:endParaRPr lang="zh-CN" sz="2800"/>
          </a:p>
        </p:txBody>
      </p:sp>
      <p:sp>
        <p:nvSpPr>
          <p:cNvPr id="6" name="Shape 6"/>
          <p:cNvSpPr txBox="1"/>
          <p:nvPr/>
        </p:nvSpPr>
        <p:spPr>
          <a:xfrm>
            <a:off x="585216" y="1243584"/>
            <a:ext cx="10972800" cy="32004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3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示例 3 · 通过信号名访问离散值，不必手工拼装 stream 字节布局</a:t>
            </a:r>
            <a:endParaRPr lang="zh-CN" sz="1300"/>
          </a:p>
        </p:txBody>
      </p:sp>
      <p:sp>
        <p:nvSpPr>
          <p:cNvPr id="7" name="Shape 7"/>
          <p:cNvSpPr txBox="1"/>
          <p:nvPr/>
        </p:nvSpPr>
        <p:spPr>
          <a:xfrm>
            <a:off x="585216" y="6473952"/>
            <a:ext cx="10972800" cy="18288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0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来源：examples/example3_library_signals/{sender,receiver}/main.cpp  ·  ECIC.xml</a:t>
            </a:r>
            <a:endParaRPr lang="zh-CN" sz="800"/>
          </a:p>
        </p:txBody>
      </p:sp>
      <p:sp>
        <p:nvSpPr>
          <p:cNvPr id="8" name="Shape 8"/>
          <p:cNvSpPr txBox="1"/>
          <p:nvPr/>
        </p:nvSpPr>
        <p:spPr>
          <a:xfrm>
            <a:off x="566928" y="1828800"/>
            <a:ext cx="6967728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822960" y="1993392"/>
            <a:ext cx="630936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6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ECIC 中的信号映射</a:t>
            </a:r>
            <a:endParaRPr lang="zh-CN" sz="1600"/>
          </a:p>
        </p:txBody>
      </p:sp>
      <p:sp>
        <p:nvSpPr>
          <p:cNvPr id="10" name="Shape 10"/>
          <p:cNvSpPr txBox="1"/>
          <p:nvPr/>
        </p:nvSpPr>
        <p:spPr>
          <a:xfrm>
            <a:off x="859536" y="2523744"/>
            <a:ext cx="2852928" cy="850392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1042415" y="2606040"/>
            <a:ext cx="2487168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DIS_STREAM1 · 2 bytes</a:t>
            </a:r>
            <a:endParaRPr lang="zh-CN" sz="1100"/>
          </a:p>
        </p:txBody>
      </p:sp>
      <p:sp>
        <p:nvSpPr>
          <p:cNvPr id="12" name="Shape 12"/>
          <p:cNvSpPr txBox="1"/>
          <p:nvPr/>
        </p:nvSpPr>
        <p:spPr>
          <a:xfrm>
            <a:off x="1042415" y="2907792"/>
            <a:ext cx="2487168" cy="338328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DIS_SIGNAL1 → offset 0</a:t>
            </a:r>
            <a:endParaRPr lang="zh-CN" sz="1000"/>
          </a:p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DIS_SIGNAL2 → offset 1</a:t>
            </a:r>
            <a:endParaRPr lang="zh-CN" sz="1000"/>
          </a:p>
        </p:txBody>
      </p:sp>
      <p:sp>
        <p:nvSpPr>
          <p:cNvPr id="13" name="Shape 13"/>
          <p:cNvSpPr txBox="1"/>
          <p:nvPr/>
        </p:nvSpPr>
        <p:spPr>
          <a:xfrm>
            <a:off x="3913632" y="2523744"/>
            <a:ext cx="2971800" cy="850392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4096512" y="2606040"/>
            <a:ext cx="2606040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DIS_STREAM2 · 1 byte</a:t>
            </a:r>
            <a:endParaRPr lang="zh-CN" sz="1100"/>
          </a:p>
        </p:txBody>
      </p:sp>
      <p:sp>
        <p:nvSpPr>
          <p:cNvPr id="15" name="Shape 15"/>
          <p:cNvSpPr txBox="1"/>
          <p:nvPr/>
        </p:nvSpPr>
        <p:spPr>
          <a:xfrm>
            <a:off x="4096512" y="2907792"/>
            <a:ext cx="2606040" cy="338328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DIS_SIGNAL3 → offset 0</a:t>
            </a:r>
            <a:endParaRPr lang="zh-CN" sz="1000"/>
          </a:p>
          <a:p>
            <a:pPr algn="l"/>
            <a:r>
              <a:rPr lang="zh-CN" sz="10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单信号对应一个 stream。</a:t>
            </a:r>
            <a:endParaRPr lang="zh-CN" sz="1000"/>
          </a:p>
        </p:txBody>
      </p:sp>
      <p:sp>
        <p:nvSpPr>
          <p:cNvPr id="16" name="Shape 16"/>
          <p:cNvSpPr txBox="1"/>
          <p:nvPr/>
        </p:nvSpPr>
        <p:spPr>
          <a:xfrm>
            <a:off x="877824" y="3493008"/>
            <a:ext cx="6309360" cy="25603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写入与读取（本例为 DIS：true = 255，false = 0）</a:t>
            </a:r>
            <a:endParaRPr lang="zh-CN" sz="1100"/>
          </a:p>
        </p:txBody>
      </p:sp>
      <p:sp>
        <p:nvSpPr>
          <p:cNvPr id="17" name="Shape 17"/>
          <p:cNvSpPr txBox="1"/>
          <p:nvPr/>
        </p:nvSpPr>
        <p:spPr>
          <a:xfrm>
            <a:off x="859536" y="3794760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950976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000"/>
          </a:p>
        </p:txBody>
      </p:sp>
      <p:sp>
        <p:nvSpPr>
          <p:cNvPr id="19" name="Shape 19"/>
          <p:cNvSpPr txBox="1"/>
          <p:nvPr/>
        </p:nvSpPr>
        <p:spPr>
          <a:xfrm>
            <a:off x="950976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按名取信号</a:t>
            </a:r>
            <a:endParaRPr lang="zh-CN" sz="1100"/>
          </a:p>
        </p:txBody>
      </p:sp>
      <p:sp>
        <p:nvSpPr>
          <p:cNvPr id="20" name="Shape 20"/>
          <p:cNvSpPr txBox="1"/>
          <p:nvPr/>
        </p:nvSpPr>
        <p:spPr>
          <a:xfrm>
            <a:off x="950976" y="4352544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get_signal</a:t>
            </a:r>
            <a:endParaRPr lang="zh-CN" sz="850"/>
          </a:p>
        </p:txBody>
      </p:sp>
      <p:sp>
        <p:nvSpPr>
          <p:cNvPr id="21" name="Shape 21"/>
          <p:cNvSpPr txBox="1"/>
          <p:nvPr/>
        </p:nvSpPr>
        <p:spPr>
          <a:xfrm>
            <a:off x="2340864" y="4041648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22" name="Shape 22"/>
          <p:cNvSpPr txBox="1"/>
          <p:nvPr/>
        </p:nvSpPr>
        <p:spPr>
          <a:xfrm>
            <a:off x="2587752" y="3794760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267919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000"/>
          </a:p>
        </p:txBody>
      </p:sp>
      <p:sp>
        <p:nvSpPr>
          <p:cNvPr id="24" name="Shape 24"/>
          <p:cNvSpPr txBox="1"/>
          <p:nvPr/>
        </p:nvSpPr>
        <p:spPr>
          <a:xfrm>
            <a:off x="2679192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取得助手</a:t>
            </a:r>
            <a:endParaRPr lang="zh-CN" sz="1100"/>
          </a:p>
        </p:txBody>
      </p:sp>
      <p:sp>
        <p:nvSpPr>
          <p:cNvPr id="25" name="Shape 25"/>
          <p:cNvSpPr txBox="1"/>
          <p:nvPr/>
        </p:nvSpPr>
        <p:spPr>
          <a:xfrm>
            <a:off x="2679192" y="4352544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get_assistant</a:t>
            </a:r>
            <a:endParaRPr lang="zh-CN" sz="850"/>
          </a:p>
        </p:txBody>
      </p:sp>
      <p:sp>
        <p:nvSpPr>
          <p:cNvPr id="26" name="Shape 26"/>
          <p:cNvSpPr txBox="1"/>
          <p:nvPr/>
        </p:nvSpPr>
        <p:spPr>
          <a:xfrm>
            <a:off x="4069080" y="4041648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27" name="Shape 27"/>
          <p:cNvSpPr txBox="1"/>
          <p:nvPr/>
        </p:nvSpPr>
        <p:spPr>
          <a:xfrm>
            <a:off x="4315968" y="3794760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4407407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000"/>
          </a:p>
        </p:txBody>
      </p:sp>
      <p:sp>
        <p:nvSpPr>
          <p:cNvPr id="29" name="Shape 29"/>
          <p:cNvSpPr txBox="1"/>
          <p:nvPr/>
        </p:nvSpPr>
        <p:spPr>
          <a:xfrm>
            <a:off x="4407407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读写信号值</a:t>
            </a:r>
            <a:endParaRPr lang="zh-CN" sz="1100"/>
          </a:p>
        </p:txBody>
      </p:sp>
      <p:sp>
        <p:nvSpPr>
          <p:cNvPr id="30" name="Shape 30"/>
          <p:cNvSpPr txBox="1"/>
          <p:nvPr/>
        </p:nvSpPr>
        <p:spPr>
          <a:xfrm>
            <a:off x="4407407" y="4352544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write / read</a:t>
            </a:r>
            <a:endParaRPr lang="zh-CN" sz="850"/>
          </a:p>
        </p:txBody>
      </p:sp>
      <p:sp>
        <p:nvSpPr>
          <p:cNvPr id="31" name="Shape 31"/>
          <p:cNvSpPr txBox="1"/>
          <p:nvPr/>
        </p:nvSpPr>
        <p:spPr>
          <a:xfrm>
            <a:off x="5797296" y="4041648"/>
            <a:ext cx="228600" cy="29260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c"/>
            <a:r>
              <a:rPr lang="zh-CN" sz="1900" b="1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zh-CN" sz="1900"/>
          </a:p>
        </p:txBody>
      </p:sp>
      <p:sp>
        <p:nvSpPr>
          <p:cNvPr id="32" name="Shape 32"/>
          <p:cNvSpPr txBox="1"/>
          <p:nvPr/>
        </p:nvSpPr>
        <p:spPr>
          <a:xfrm>
            <a:off x="6044184" y="3794760"/>
            <a:ext cx="1435608" cy="87782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6135624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000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000"/>
          </a:p>
        </p:txBody>
      </p:sp>
      <p:sp>
        <p:nvSpPr>
          <p:cNvPr id="34" name="Shape 34"/>
          <p:cNvSpPr txBox="1"/>
          <p:nvPr/>
        </p:nvSpPr>
        <p:spPr>
          <a:xfrm>
            <a:off x="6135624" y="4069080"/>
            <a:ext cx="1261872" cy="237744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1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推送 / 弹出</a:t>
            </a:r>
            <a:endParaRPr lang="zh-CN" sz="1100"/>
          </a:p>
        </p:txBody>
      </p:sp>
      <p:sp>
        <p:nvSpPr>
          <p:cNvPr id="35" name="Shape 35"/>
          <p:cNvSpPr txBox="1"/>
          <p:nvPr/>
        </p:nvSpPr>
        <p:spPr>
          <a:xfrm>
            <a:off x="6135624" y="4352544"/>
            <a:ext cx="1261872" cy="21945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85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push / pop</a:t>
            </a:r>
            <a:endParaRPr lang="zh-CN" sz="850"/>
          </a:p>
        </p:txBody>
      </p:sp>
      <p:sp>
        <p:nvSpPr>
          <p:cNvPr id="36" name="Shape 36"/>
          <p:cNvSpPr txBox="1"/>
          <p:nvPr/>
        </p:nvSpPr>
        <p:spPr>
          <a:xfrm>
            <a:off x="877824" y="4754880"/>
            <a:ext cx="6309360" cy="347472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6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助手处理字节偏移与字节序；同一 stream 内的信号共用助手，需按 stream 粒度推送 / 弹出。</a:t>
            </a:r>
            <a:endParaRPr lang="zh-CN" sz="960"/>
          </a:p>
        </p:txBody>
      </p:sp>
      <p:sp>
        <p:nvSpPr>
          <p:cNvPr id="37" name="Shape 37"/>
          <p:cNvSpPr txBox="1"/>
          <p:nvPr/>
        </p:nvSpPr>
        <p:spPr>
          <a:xfrm>
            <a:off x="7680960" y="1828800"/>
            <a:ext cx="3941063" cy="3429000"/>
          </a:xfrm>
          <a:prstGeom prst="roundRect">
            <a:avLst/>
          </a:prstGeom>
          <a:solidFill>
            <a:srgbClr val="121E31"/>
          </a:solidFill>
          <a:ln w="9525">
            <a:solidFill>
              <a:srgbClr val="283950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7936992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6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关键 ED247 接口</a:t>
            </a:r>
            <a:endParaRPr lang="zh-CN" sz="1600"/>
          </a:p>
        </p:txBody>
      </p:sp>
      <p:sp>
        <p:nvSpPr>
          <p:cNvPr id="39" name="Shape 39"/>
          <p:cNvSpPr txBox="1"/>
          <p:nvPr/>
        </p:nvSpPr>
        <p:spPr>
          <a:xfrm>
            <a:off x="7936992" y="2432304"/>
            <a:ext cx="41148" cy="411480"/>
          </a:xfrm>
          <a:prstGeom prst="rect">
            <a:avLst/>
          </a:prstGeom>
          <a:solidFill>
            <a:srgbClr val="78A9FF"/>
          </a:solidFill>
          <a:ln/>
        </p:spPr>
      </p:sp>
      <p:sp>
        <p:nvSpPr>
          <p:cNvPr id="40" name="Shape 40"/>
          <p:cNvSpPr txBox="1"/>
          <p:nvPr/>
        </p:nvSpPr>
        <p:spPr>
          <a:xfrm>
            <a:off x="8083296" y="2432304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78A9FF"/>
                </a:solidFill>
                <a:latin typeface="Microsoft YaHei"/>
                <a:ea typeface="Microsoft YaHei"/>
                <a:cs typeface="Microsoft YaHei"/>
              </a:rPr>
              <a:t>ed247_signal_get_assistant</a:t>
            </a:r>
            <a:endParaRPr lang="zh-CN" sz="919"/>
          </a:p>
        </p:txBody>
      </p:sp>
      <p:sp>
        <p:nvSpPr>
          <p:cNvPr id="41" name="Shape 41"/>
          <p:cNvSpPr txBox="1"/>
          <p:nvPr/>
        </p:nvSpPr>
        <p:spPr>
          <a:xfrm>
            <a:off x="8083296" y="2624328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取得信号所属 stream 的助手句柄。</a:t>
            </a:r>
            <a:endParaRPr lang="zh-CN" sz="930"/>
          </a:p>
        </p:txBody>
      </p:sp>
      <p:sp>
        <p:nvSpPr>
          <p:cNvPr id="42" name="Shape 42"/>
          <p:cNvSpPr txBox="1"/>
          <p:nvPr/>
        </p:nvSpPr>
        <p:spPr>
          <a:xfrm>
            <a:off x="7936992" y="2962656"/>
            <a:ext cx="41148" cy="41148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3" name="Shape 43"/>
          <p:cNvSpPr txBox="1"/>
          <p:nvPr/>
        </p:nvSpPr>
        <p:spPr>
          <a:xfrm>
            <a:off x="8083296" y="2962656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ed247_stream_assistant_write_signal</a:t>
            </a:r>
            <a:endParaRPr lang="zh-CN" sz="919"/>
          </a:p>
        </p:txBody>
      </p:sp>
      <p:sp>
        <p:nvSpPr>
          <p:cNvPr id="44" name="Shape 44"/>
          <p:cNvSpPr txBox="1"/>
          <p:nvPr/>
        </p:nvSpPr>
        <p:spPr>
          <a:xfrm>
            <a:off x="8083296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按信号名写入值，不直接操作字节偏移。</a:t>
            </a:r>
            <a:endParaRPr lang="zh-CN" sz="930"/>
          </a:p>
        </p:txBody>
      </p:sp>
      <p:sp>
        <p:nvSpPr>
          <p:cNvPr id="45" name="Shape 45"/>
          <p:cNvSpPr txBox="1"/>
          <p:nvPr/>
        </p:nvSpPr>
        <p:spPr>
          <a:xfrm>
            <a:off x="7936992" y="3493008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46" name="Shape 46"/>
          <p:cNvSpPr txBox="1"/>
          <p:nvPr/>
        </p:nvSpPr>
        <p:spPr>
          <a:xfrm>
            <a:off x="8083296" y="3493008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ed247_stream_assistants_written_push_samples</a:t>
            </a:r>
            <a:endParaRPr lang="zh-CN" sz="919"/>
          </a:p>
        </p:txBody>
      </p:sp>
      <p:sp>
        <p:nvSpPr>
          <p:cNvPr id="47" name="Shape 47"/>
          <p:cNvSpPr txBox="1"/>
          <p:nvPr/>
        </p:nvSpPr>
        <p:spPr>
          <a:xfrm>
            <a:off x="8083296" y="3685032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自动推送本轮有写入信号的完整 stream。</a:t>
            </a:r>
            <a:endParaRPr lang="zh-CN" sz="930"/>
          </a:p>
        </p:txBody>
      </p:sp>
      <p:sp>
        <p:nvSpPr>
          <p:cNvPr id="48" name="Shape 48"/>
          <p:cNvSpPr txBox="1"/>
          <p:nvPr/>
        </p:nvSpPr>
        <p:spPr>
          <a:xfrm>
            <a:off x="7936992" y="4023360"/>
            <a:ext cx="41148" cy="411480"/>
          </a:xfrm>
          <a:prstGeom prst="rect">
            <a:avLst/>
          </a:prstGeom>
          <a:solidFill>
            <a:srgbClr val="8BE0A5"/>
          </a:solidFill>
          <a:ln/>
        </p:spPr>
      </p:sp>
      <p:sp>
        <p:nvSpPr>
          <p:cNvPr id="49" name="Shape 49"/>
          <p:cNvSpPr txBox="1"/>
          <p:nvPr/>
        </p:nvSpPr>
        <p:spPr>
          <a:xfrm>
            <a:off x="8083296" y="4023360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ed247_stream_assistants_pop_samples</a:t>
            </a:r>
            <a:endParaRPr lang="zh-CN" sz="919"/>
          </a:p>
        </p:txBody>
      </p:sp>
      <p:sp>
        <p:nvSpPr>
          <p:cNvPr id="50" name="Shape 50"/>
          <p:cNvSpPr txBox="1"/>
          <p:nvPr/>
        </p:nvSpPr>
        <p:spPr>
          <a:xfrm>
            <a:off x="8083296" y="4215384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接收后刷新助手数据。</a:t>
            </a:r>
            <a:endParaRPr lang="zh-CN" sz="930"/>
          </a:p>
        </p:txBody>
      </p:sp>
      <p:sp>
        <p:nvSpPr>
          <p:cNvPr id="51" name="Shape 51"/>
          <p:cNvSpPr txBox="1"/>
          <p:nvPr/>
        </p:nvSpPr>
        <p:spPr>
          <a:xfrm>
            <a:off x="7936992" y="4553712"/>
            <a:ext cx="41148" cy="411480"/>
          </a:xfrm>
          <a:prstGeom prst="rect">
            <a:avLst/>
          </a:prstGeom>
          <a:solidFill>
            <a:srgbClr val="48D8CB"/>
          </a:solidFill>
          <a:ln/>
        </p:spPr>
      </p:sp>
      <p:sp>
        <p:nvSpPr>
          <p:cNvPr id="52" name="Shape 52"/>
          <p:cNvSpPr txBox="1"/>
          <p:nvPr/>
        </p:nvSpPr>
        <p:spPr>
          <a:xfrm>
            <a:off x="8083296" y="4553712"/>
            <a:ext cx="3264408" cy="201168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919" b="1">
                <a:solidFill>
                  <a:srgbClr val="48D8CB"/>
                </a:solidFill>
                <a:latin typeface="Microsoft YaHei"/>
                <a:ea typeface="Microsoft YaHei"/>
                <a:cs typeface="Microsoft YaHei"/>
              </a:rPr>
              <a:t>ed247_stream_assistant_read_signal</a:t>
            </a:r>
            <a:endParaRPr lang="zh-CN" sz="919"/>
          </a:p>
        </p:txBody>
      </p:sp>
      <p:sp>
        <p:nvSpPr>
          <p:cNvPr id="53" name="Shape 53"/>
          <p:cNvSpPr txBox="1"/>
          <p:nvPr/>
        </p:nvSpPr>
        <p:spPr>
          <a:xfrm>
            <a:off x="8083296" y="4745736"/>
            <a:ext cx="3246120" cy="320040"/>
          </a:xfrm>
          <a:prstGeom prst="rect">
            <a:avLst/>
          </a:prstGeom>
          <a:noFill/>
          <a:ln/>
        </p:spPr>
        <p:txBody>
          <a:bodyPr wrap="square" lIns="0" rIns="0" tIns="0" bIns="0" anchor="t"/>
          <a:lstStyle/>
          <a:p>
            <a:pPr algn="l"/>
            <a:r>
              <a:rPr lang="zh-CN" sz="930" b="0">
                <a:solidFill>
                  <a:srgbClr val="A9B6C8"/>
                </a:solidFill>
                <a:latin typeface="Microsoft YaHei"/>
                <a:ea typeface="Microsoft YaHei"/>
                <a:cs typeface="Microsoft YaHei"/>
              </a:rPr>
              <a:t>从助手缓存按信号名读取当前值。</a:t>
            </a:r>
            <a:endParaRPr lang="zh-CN" sz="930"/>
          </a:p>
        </p:txBody>
      </p:sp>
      <p:sp>
        <p:nvSpPr>
          <p:cNvPr id="54" name="Shape 54"/>
          <p:cNvSpPr txBox="1"/>
          <p:nvPr/>
        </p:nvSpPr>
        <p:spPr>
          <a:xfrm>
            <a:off x="566928" y="5431536"/>
            <a:ext cx="11055096" cy="786384"/>
          </a:xfrm>
          <a:prstGeom prst="roundRect">
            <a:avLst/>
          </a:prstGeom>
          <a:solidFill>
            <a:srgbClr val="17263B"/>
          </a:solidFill>
          <a:ln w="9525">
            <a:solidFill>
              <a:srgbClr val="283950"/>
            </a:solidFill>
          </a:ln>
        </p:spPr>
      </p:sp>
      <p:sp>
        <p:nvSpPr>
          <p:cNvPr id="55" name="Shape 55"/>
          <p:cNvSpPr txBox="1"/>
          <p:nvPr/>
        </p:nvSpPr>
        <p:spPr>
          <a:xfrm>
            <a:off x="566928" y="5431536"/>
            <a:ext cx="64008" cy="786384"/>
          </a:xfrm>
          <a:prstGeom prst="rect">
            <a:avLst/>
          </a:prstGeom>
          <a:solidFill>
            <a:srgbClr val="8BE0A5"/>
          </a:solidFill>
          <a:ln/>
        </p:spPr>
      </p:sp>
      <p:sp>
        <p:nvSpPr>
          <p:cNvPr id="56" name="Shape 56"/>
          <p:cNvSpPr txBox="1"/>
          <p:nvPr/>
        </p:nvSpPr>
        <p:spPr>
          <a:xfrm>
            <a:off x="822960" y="5559552"/>
            <a:ext cx="1298448" cy="438912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1">
                <a:solidFill>
                  <a:srgbClr val="8BE0A5"/>
                </a:solidFill>
                <a:latin typeface="Microsoft YaHei"/>
                <a:ea typeface="Microsoft YaHei"/>
                <a:cs typeface="Microsoft YaHei"/>
              </a:rPr>
              <a:t>使用提醒</a:t>
            </a:r>
            <a:endParaRPr lang="zh-CN" sz="1200"/>
          </a:p>
        </p:txBody>
      </p:sp>
      <p:sp>
        <p:nvSpPr>
          <p:cNvPr id="57" name="Shape 57"/>
          <p:cNvSpPr txBox="1"/>
          <p:nvPr/>
        </p:nvSpPr>
        <p:spPr>
          <a:xfrm>
            <a:off x="2066543" y="5550408"/>
            <a:ext cx="9189720" cy="457200"/>
          </a:xfrm>
          <a:prstGeom prst="rect">
            <a:avLst/>
          </a:prstGeom>
          <a:noFill/>
          <a:ln/>
        </p:spPr>
        <p:txBody>
          <a:bodyPr wrap="square" lIns="0" rIns="0" tIns="0" bIns="0" anchor="ctr"/>
          <a:lstStyle/>
          <a:p>
            <a:pPr algn="l"/>
            <a:r>
              <a:rPr lang="zh-CN" sz="120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未写入信号初始值为 0，后续保留上一值。data timestamp 属于 stream，同一 stream 的信号共享时间戳；自定义时间戳可用 ed247_stream_assistant_push_sample()。</a:t>
            </a:r>
            <a:endParaRPr lang="zh-CN" sz="1200"/>
          </a:p>
        </p:txBody>
      </p:sp>
    </p:spTree>
  </p:cSld>
</p:sld>
</file>

<file path=ppt/theme/theme1.xml><?xml version="1.0" encoding="utf-8"?>
<a:theme xmlns:a="http://schemas.openxmlformats.org/drawingml/2006/main" name="ED247">
  <a:themeElements>
    <a:clrScheme name="ED247">
      <a:dk1>
        <a:srgbClr val="0B1220"/>
      </a:dk1>
      <a:lt1>
        <a:srgbClr val="F4F7FB"/>
      </a:lt1>
      <a:dk2>
        <a:srgbClr val="121E31"/>
      </a:dk2>
      <a:lt2>
        <a:srgbClr val="A9B6C8"/>
      </a:lt2>
      <a:accent1>
        <a:srgbClr val="48D8CB"/>
      </a:accent1>
      <a:accent2>
        <a:srgbClr val="FFB454"/>
      </a:accent2>
      <a:accent3>
        <a:srgbClr val="78A9FF"/>
      </a:accent3>
      <a:accent4>
        <a:srgbClr val="8BE0A5"/>
      </a:accent4>
      <a:accent5>
        <a:srgbClr val="FF8C82"/>
      </a:accent5>
      <a:accent6>
        <a:srgbClr val="A78BFA"/>
      </a:accent6>
      <a:hlink>
        <a:srgbClr val="48D8CB"/>
      </a:hlink>
      <a:folHlink>
        <a:srgbClr val="A78BFA"/>
      </a:folHlink>
    </a:clrScheme>
    <a:fontScheme name="ED247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ED247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</a:ln>
        <a:ln w="12700">
          <a:solidFill>
            <a:schemeClr val="accent2"/>
          </a:solidFill>
        </a:ln>
        <a:ln w="1905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